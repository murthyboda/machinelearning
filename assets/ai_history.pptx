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457200"/>
            <a:ext cx="4572000" cy="27432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502920"/>
            <a:ext cx="3291840" cy="347472"/>
          </a:xfrm>
          <a:prstGeom prst="rect">
            <a:avLst/>
          </a:prstGeom>
          <a:solidFill>
            <a:srgbClr val="161D2E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5029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🤖  AI HISTORY  ·  A COMEDY IN MANY ACTS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Brief (&amp; Slightly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Embarrassing) History of AI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humanity spent 70+ years teaching computers to be almost useful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1950  →  Present Day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solidFill>
            <a:srgbClr val="0D1E3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Turing Test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91440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"Can machines think?" — Alan Turing asks the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humanity has been arguing about ever since.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274320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886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machine can fool a human into thinking it's also human... does it matter if it's not?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3063240"/>
            <a:ext cx="274320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3886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"Computing Machinery and Intelligence" — the most cited paper nobody has actually finished reading.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063240"/>
            <a:ext cx="274320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3886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predicted machines would pass his test by 2000. It took until 2014. Close enough.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solidFill>
            <a:srgbClr val="1E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Dartmouth Conference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A.K.A. The Summer Where Everyone Got Way Too Confident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574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2103120" y="2103120"/>
            <a:ext cx="0" cy="11887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103120"/>
            <a:ext cx="6309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spent one summer at Dartmouth College convinced they could solve AI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10 weeks.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 It took slightly longer.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COINED BY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95020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 McCarthy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6120" y="356616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ATTENDEES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95020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McCarthy, Minsky,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Shannon, Simon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356616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395020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a field.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Solved nothing.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solidFill>
            <a:srgbClr val="041E1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ELIZA — The World's First Chatbot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MIT's Weizenbaum built a therapist bot. Accidentally invented parasocial AI relationships.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1965960"/>
            <a:ext cx="4572000" cy="384048"/>
          </a:xfrm>
          <a:prstGeom prst="roundRect">
            <a:avLst>
              <a:gd name="adj" fmla="val 23810"/>
            </a:avLst>
          </a:prstGeom>
          <a:solidFill>
            <a:srgbClr val="1E3A5F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24528" y="19842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feeling sad today.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572000" cy="384048"/>
          </a:xfrm>
          <a:prstGeom prst="roundRect">
            <a:avLst>
              <a:gd name="adj" fmla="val 23810"/>
            </a:avLst>
          </a:prstGeom>
          <a:solidFill>
            <a:srgbClr val="1A3A3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4414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say you are feeling sad today?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2880360"/>
            <a:ext cx="4572000" cy="384048"/>
          </a:xfrm>
          <a:prstGeom prst="roundRect">
            <a:avLst>
              <a:gd name="adj" fmla="val 23810"/>
            </a:avLst>
          </a:prstGeom>
          <a:solidFill>
            <a:srgbClr val="1E3A5F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528" y="28986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my code won't compile.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4572000" cy="384048"/>
          </a:xfrm>
          <a:prstGeom prst="roundRect">
            <a:avLst>
              <a:gd name="adj" fmla="val 23810"/>
            </a:avLst>
          </a:prstGeom>
          <a:solidFill>
            <a:srgbClr val="1A3A3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3558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more about your code.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3794760"/>
            <a:ext cx="4572000" cy="384048"/>
          </a:xfrm>
          <a:prstGeom prst="roundRect">
            <a:avLst>
              <a:gd name="adj" fmla="val 23810"/>
            </a:avLst>
          </a:prstGeom>
          <a:solidFill>
            <a:srgbClr val="1E3A5F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38130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you... actually listening to me?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251960"/>
            <a:ext cx="4572000" cy="384048"/>
          </a:xfrm>
          <a:prstGeom prst="roundRect">
            <a:avLst>
              <a:gd name="adj" fmla="val 23810"/>
            </a:avLst>
          </a:prstGeom>
          <a:solidFill>
            <a:srgbClr val="1A3A3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2702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matter whether I am actually listening?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Weizenbaum's own secretary asked him to leave the room so she could talk to ELIZA in private. He was horrified. ChatGPT users: "sounds normal to me."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457200"/>
            <a:ext cx="5486400" cy="36576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74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❄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AI WINTER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7C6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1974 – 1980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2240280"/>
            <a:ext cx="7315200" cy="0"/>
          </a:xfrm>
          <a:prstGeom prst="line">
            <a:avLst/>
          </a:prstGeom>
          <a:noFill/>
          <a:ln w="12700">
            <a:solidFill>
              <a:srgbClr val="3B1F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423160"/>
            <a:ext cx="2697480" cy="2423160"/>
          </a:xfrm>
          <a:prstGeom prst="rect">
            <a:avLst/>
          </a:prstGeom>
          <a:solidFill>
            <a:srgbClr val="10082A"/>
          </a:solidFill>
          <a:ln w="12700">
            <a:solidFill>
              <a:srgbClr val="3B1F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2514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02920" y="3035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Lighthill Report, 1973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419856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government asked: 'What has AI actually achieved?' The answer was not reassuring. Funding: cancelled.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2423160"/>
            <a:ext cx="2697480" cy="2423160"/>
          </a:xfrm>
          <a:prstGeom prst="rect">
            <a:avLst/>
          </a:prstGeom>
          <a:solidFill>
            <a:srgbClr val="10082A"/>
          </a:solidFill>
          <a:ln w="12700">
            <a:solidFill>
              <a:srgbClr val="3B1F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91840" y="2514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429000" y="3035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 Pulls Out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29000" y="3419856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government had been funding AI like it owed it money. Then it stopped. Abruptly. Painfully.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2423160"/>
            <a:ext cx="2697480" cy="2423160"/>
          </a:xfrm>
          <a:prstGeom prst="rect">
            <a:avLst/>
          </a:prstGeom>
          <a:solidFill>
            <a:srgbClr val="10082A"/>
          </a:solidFill>
          <a:ln w="12700">
            <a:solidFill>
              <a:srgbClr val="3B1F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17920" y="2514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😬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355080" y="3035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Hype Problem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55080" y="3419856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"Machines will be doing everything humans do within 20 years!" — Said in 1956. Still waiting.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88720" cy="411480"/>
          </a:xfrm>
          <a:prstGeom prst="rect">
            <a:avLst/>
          </a:prstGeom>
          <a:solidFill>
            <a:srgbClr val="1E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1980s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Systems: AI Gets a Job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Corporations throw billions at systems that can answer exactly one kind of question, badly.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114800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148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What They Were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3794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rule-based programs like XCON (DEC) that could configure orders.
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customer wants X AND has budget Y THEN recommend Z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launched the legendary Fifth Generation Computer Project. Everyone panicked.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114800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148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 The Problem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578608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these systems was like debugging a rules list written by a lawyer after a fever dream.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1986 arrives, Hinton rediscovers backprop,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suddenly everyone wants neural nets again.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12700">
            <a:solidFill>
              <a:srgbClr val="1A0F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457200"/>
            <a:ext cx="5486400" cy="36576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28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❄❄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AI WINTER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6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1987 – 1993  ·  (Now with 100% more corporate shame)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2103120"/>
            <a:ext cx="7315200" cy="0"/>
          </a:xfrm>
          <a:prstGeom prst="line">
            <a:avLst/>
          </a:prstGeom>
          <a:noFill/>
          <a:ln w="12700">
            <a:solidFill>
              <a:srgbClr val="3B1F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331720"/>
            <a:ext cx="1005840" cy="384048"/>
          </a:xfrm>
          <a:prstGeom prst="rect">
            <a:avLst/>
          </a:prstGeom>
          <a:solidFill>
            <a:srgbClr val="16082E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0" y="237744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Lisp Machine market collapses overnight. Entire companies go bankrupt.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1005840" cy="384048"/>
          </a:xfrm>
          <a:prstGeom prst="rect">
            <a:avLst/>
          </a:prstGeom>
          <a:solidFill>
            <a:srgbClr val="16082E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834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45920" y="28803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Japan's Fifth Gen project quietly fails to deliver anything. Everyone pretends it didn't happen.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337560"/>
            <a:ext cx="1005840" cy="384048"/>
          </a:xfrm>
          <a:prstGeom prst="rect">
            <a:avLst/>
          </a:prstGeom>
          <a:solidFill>
            <a:srgbClr val="16082E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37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45920" y="338328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 cuts AI funding again. Researchers start calling their work 'machine learning' to survive.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1005840" cy="384048"/>
          </a:xfrm>
          <a:prstGeom prst="rect">
            <a:avLst/>
          </a:prstGeom>
          <a:solidFill>
            <a:srgbClr val="16082E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40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645920" y="388620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'AI' becomes so toxic that using it in a grant proposal guarantees rejection.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solidFill>
            <a:srgbClr val="1E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Blue Defeats Kasparov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KASPAROV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0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BLUE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303520" y="2286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0" cy="1143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148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could feel — I could smell — a new kind of intelligence across the board."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Kasparov, probably not smelling the cooling fans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154680"/>
            <a:ext cx="411480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♟️  Fun Fact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675888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Kasparov accused IBM of cheating — claiming a human must have helped. IBM denied it. Kasparov demanded a rematch. IBM dismantled Deep Blue instead. 😤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solidFill>
            <a:srgbClr val="130C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AlexNet &amp; The ImageNet Moment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neural network walked into a competition and absolutely humiliated everyone.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AlexNet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26.2%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2999232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Error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2331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64748B"/>
                </a:solidFill>
              </a:rPr>
              <a:t>→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30352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(2012)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423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15.3%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303520" y="2999232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Error 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4564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" y="38770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16966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Krizhevsky, Ilya Sutskever &amp; Geoff Hinton — who had spent years being told neural nets didn't work.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3383280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46120" y="34564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83280" y="38770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 Weapon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16966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consumer NVIDIA gaming GPUs. Literally the same cards teenagers used to play Crysis.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3383280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34564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💥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63640" y="38770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416966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AI lab pivoted to deep learning within 12 months. This slide existed before the paper dropped.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solidFill>
            <a:srgbClr val="041E1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AlphaGo Defeats Lee Sedol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2, Move 37. The moment AI stopped playing like a machine and started playing like a ghost.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0116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Lee Sedol  1  —  4  AlphaGo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predicted human-level Go was 10+ years away.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didn't get the memo.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971800"/>
            <a:ext cx="4114800" cy="1920240"/>
          </a:xfrm>
          <a:prstGeom prst="rect">
            <a:avLst/>
          </a:prstGeom>
          <a:solidFill>
            <a:srgbClr val="041E1C"/>
          </a:solidFill>
          <a:ln w="12700">
            <a:solidFill>
              <a:srgbClr val="0D4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3108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 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349300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Sedol won Game 4 with a move so creative that AlphaGo literally couldn't process it. He called it his 'hand of God.' He retired from professional Go in 2019, saying AI had made the game unwinnable.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39776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Lee Sedol is the only human ever to defeat AlphaGo in tournament play.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solidFill>
            <a:srgbClr val="0414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"Attention Is All You Need"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Google Brain researchers write a paper. The world will never be the same. Neither will your job.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11680"/>
            <a:ext cx="9144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57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architecture replaced recurrent neural networks with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ability to look at every part of an input at once, rather than reading left to right like a confused intern. It's now the engine behind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literally every major AI model.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210312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6261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383280"/>
            <a:ext cx="21031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493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→ BERT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384048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reading comprehension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every NLP benchmark.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3383280"/>
            <a:ext cx="210312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6261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3383280"/>
            <a:ext cx="21031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15768" y="3493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→ GPT-2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15768" y="384048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says the model is 'too dangerous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release.' Then releases it 6 months later.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383280"/>
            <a:ext cx="210312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6261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383280"/>
            <a:ext cx="21031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3493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→ GPT-3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56048" y="384048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billion parameters. Zero-shot learning.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write entire apps with a text prompt.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3383280"/>
            <a:ext cx="210312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6261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3383280"/>
            <a:ext cx="21031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3448" y="3493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2022–25 → You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13448" y="384048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living in the part of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caused by this one paper.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solidFill>
            <a:srgbClr val="0414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Changes Everything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7432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 60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7432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9164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783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91840" y="2578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 Ever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7432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9164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783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$89B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217920" y="2578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Valuation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(shortly after)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411480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What Students Used It For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73075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Writing essays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Explaining concepts the night before exams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Asking it 'is this normal?' at 2am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Debating it on philosophy for 3 hours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200400"/>
            <a:ext cx="411480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What Everyone Else Worried About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73075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Jobs disappearing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Misinformation at industrial scale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Whether to regulate it (still ongoing)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Whether it's sentient (reader: it isn't)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12700">
            <a:solidFill>
              <a:srgbClr val="1318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182880"/>
            <a:ext cx="7315200" cy="3657600"/>
          </a:xfrm>
          <a:prstGeom prst="ellipse">
            <a:avLst/>
          </a:prstGeom>
          <a:solidFill>
            <a:srgbClr val="10B981">
              <a:alpha val="6000"/>
            </a:srgbClr>
          </a:solidFill>
          <a:ln w="12700">
            <a:solidFill>
              <a:srgbClr val="10B981">
                <a:alpha val="6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 – 2025 &amp; Beyond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of the story where things get genuinely weird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" y="1417320"/>
            <a:ext cx="27432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1417320"/>
            <a:ext cx="6400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1527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24128" y="155448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now see, hear, read, and code simultaneously. GPT-4, Gemini, Claude.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1417320"/>
            <a:ext cx="27432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1417320"/>
            <a:ext cx="6400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1527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950208" y="155448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29000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browses the web, writes code, and books appointments. Autonomously.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1417320"/>
            <a:ext cx="27432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1417320"/>
            <a:ext cx="6400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1527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76288" y="155448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o1, DeepSeek — models that think before they answer. Slowly. But correctly.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154680"/>
            <a:ext cx="27432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154680"/>
            <a:ext cx="6400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2644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024128" y="3291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Regulation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37033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Act. US Executive Orders. Everyone trying to write rules for something they don't fully understand.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91840" y="3154680"/>
            <a:ext cx="27432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91840" y="3154680"/>
            <a:ext cx="6400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29000" y="32644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3950208" y="3291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429000" y="37033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an AI company now." — Every company, 2023–2025.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3154680"/>
            <a:ext cx="27432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17920" y="3154680"/>
            <a:ext cx="6400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32644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876288" y="3291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Crisis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355080" y="37033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everywhere asking: is this an essay or did GPT write it? (Often: both.)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457200"/>
            <a:ext cx="6400800" cy="4114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Lesson?</a:t>
            </a:r>
            <a:endParaRPr lang="en-US" sz="5200" dirty="0"/>
          </a:p>
        </p:txBody>
      </p:sp>
      <p:sp>
        <p:nvSpPr>
          <p:cNvPr id="22" name="Shape 20"/>
          <p:cNvSpPr/>
          <p:nvPr/>
        </p:nvSpPr>
        <p:spPr>
          <a:xfrm>
            <a:off x="914400" y="1828800"/>
            <a:ext cx="731520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1828800"/>
            <a:ext cx="91440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187452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winter was caused by the same thing: </a:t>
            </a:r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overpromising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summer was powered by the same thing: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way to compute.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currently in the biggest AI summer in history.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accordingly.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 🤖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me. Or ask ChatGPT. It's faster now.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Brief (and Slightly Embarrassing) History of AI</dc:title>
  <dc:subject>PptxGenJS Presentation</dc:subject>
  <dc:creator>PptxGenJS</dc:creator>
  <cp:lastModifiedBy>PptxGenJS</cp:lastModifiedBy>
  <cp:revision>1</cp:revision>
  <dcterms:created xsi:type="dcterms:W3CDTF">2026-03-06T21:42:43Z</dcterms:created>
  <dcterms:modified xsi:type="dcterms:W3CDTF">2026-03-06T21:42:43Z</dcterms:modified>
</cp:coreProperties>
</file>